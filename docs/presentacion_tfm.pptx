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994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Modelo corto plazo (con memoria)</c:v>
                </c:pt>
              </c:strCache>
            </c:strRef>
          </c:tx>
          <c:spPr>
            <a:solidFill>
              <a:srgbClr val="918772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Facturación diaria</c:v>
                </c:pt>
                <c:pt idx="1">
                  <c:v>Ticket medio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457</c:v>
                </c:pt>
                <c:pt idx="1">
                  <c:v>13.85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064-4553-9211-00D08652026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Modelo largo plazo (sin memoria)</c:v>
                </c:pt>
              </c:strCache>
            </c:strRef>
          </c:tx>
          <c:spPr>
            <a:solidFill>
              <a:srgbClr val="EFE8DA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Facturación diaria</c:v>
                </c:pt>
                <c:pt idx="1">
                  <c:v>Ticket medio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494</c:v>
                </c:pt>
                <c:pt idx="1">
                  <c:v>14.87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2064-4553-9211-00D08652026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918772"/>
            </a:solidFill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Baseline
aleatorio</c:v>
                </c:pt>
                <c:pt idx="1">
                  <c:v>Baseline
tasa por origen</c:v>
                </c:pt>
                <c:pt idx="2">
                  <c:v>Regresión
logística</c:v>
                </c:pt>
                <c:pt idx="3">
                  <c:v>HistGradient
Boosting (tuned)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2.9000000000000001E-2</c:v>
                </c:pt>
                <c:pt idx="1">
                  <c:v>3.4000000000000002E-2</c:v>
                </c:pt>
                <c:pt idx="2">
                  <c:v>4.3999999999999997E-2</c:v>
                </c:pt>
                <c:pt idx="3">
                  <c:v>4.1000000000000002E-2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755-422D-94C2-8DC38EFA94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104" y="914400"/>
            <a:ext cx="3657600" cy="10050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880360"/>
            <a:ext cx="10332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62220"/>
                </a:solidFill>
              </a:defRPr>
            </a:pPr>
            <a:r>
              <a:t>Restaurant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7033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6B6250"/>
                </a:solidFill>
              </a:defRPr>
            </a:pPr>
            <a:r>
              <a:t>Inteligencia de datos para locales pequeños españoles con pocos datos</a:t>
            </a:r>
          </a:p>
          <a:p>
            <a:pPr algn="ctr">
              <a:defRPr sz="1600" i="1">
                <a:solidFill>
                  <a:srgbClr val="262220"/>
                </a:solidFill>
              </a:defRPr>
            </a:pPr>
            <a:r>
              <a:t>Caso real: La Roca (Pozuelo de Alarcón)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94360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62220"/>
                </a:solidFill>
              </a:defRPr>
            </a:pPr>
            <a:r>
              <a:t>Ana Ruiz Martínez  ·  Trabajo Fin de Máster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187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EL PROBLEMA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Los locales pequeños no tienen “big data”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62220"/>
                </a:solidFill>
              </a:defRPr>
            </a:pPr>
            <a:r>
              <a:t>•  Miles de restaurantes independientes en España se gestionan a ojo: sin cuadro de mando, sin analista de datos.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62220"/>
                </a:solidFill>
              </a:defRPr>
            </a:pPr>
            <a:r>
              <a:t>•  Cuando sí registran algo: 1-2 años de histórico como mucho, en formatos dispersos (Excel semanal, PDFs de tickets, reservas en papel o en un móvil).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62220"/>
                </a:solidFill>
              </a:defRPr>
            </a:pPr>
            <a:r>
              <a:t>•  Las herramientas de “restaurant analytics” del mercado están pensadas para cadenas grandes, no para un único local independiente.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62220"/>
                </a:solidFill>
              </a:defRPr>
            </a:pPr>
            <a:r>
              <a:t>•  Pregunta del TFM: ¿se puede construir algo útil con esos pocos datos, sin inventar nada y sin sobreprometer?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250"/>
                </a:solidFill>
              </a:defRPr>
            </a:pPr>
            <a:r>
              <a:t>Restaurant Intelligence — TFM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250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187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PLANTEAMIENTO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Objetivo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62220"/>
                </a:solidFill>
              </a:defRPr>
            </a:pPr>
            <a:r>
              <a:t>•  Convertir el trabajo de modelado de un caso real (La Roca) en un producto usable por el gerente, sin conocimientos técnicos.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62220"/>
                </a:solidFill>
              </a:defRPr>
            </a:pPr>
            <a:r>
              <a:t>•  Demostrar que con ~1 año de datos y modelos clásicos (no deep learning) se puede predecir con utilidad real: facturación, ticket medio, ventas por plato y riesgo de no-show.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62220"/>
                </a:solidFill>
              </a:defRPr>
            </a:pPr>
            <a:r>
              <a:t>•  Diseñar el sistema para que sea honesto: nunca inventar un dato, marcar claramente lo que es demo/mock, nunca presentar una simulación como un hecho causal.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62220"/>
                </a:solidFill>
              </a:defRPr>
            </a:pPr>
            <a:r>
              <a:t>•  Pensar la arquitectura para que sea replicable en otro local pequeño con datos parecidos.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250"/>
                </a:solidFill>
              </a:defRPr>
            </a:pPr>
            <a:r>
              <a:t>Restaurant Intelligence — TFM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250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187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PUNTO DE PARTIDA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Los datos: el reto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262220"/>
                </a:solidFill>
              </a:defRPr>
            </a:pPr>
            <a:r>
              <a:t>•  Fuentes: tickets, facturas, reservas, meteorología, eventos locales y 965 reseñas reales (Google + TripAdvisor).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262220"/>
                </a:solidFill>
              </a:defRPr>
            </a:pPr>
            <a:r>
              <a:t>•  Pipeline bronze → silver → gold: limpieza y unificación real de todas esas fuentes dispares.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262220"/>
                </a:solidFill>
              </a:defRPr>
            </a:pPr>
            <a:r>
              <a:t>•  El reto de fondo: un único ciclo anual completo de datos.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6B6250"/>
                </a:solidFill>
              </a:defRPr>
            </a:pPr>
            <a:r>
              <a:t>   –  No se puede confirmar estacionalidad real (solo se ha visto un verano, una Navidad...)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6B6250"/>
                </a:solidFill>
              </a:defRPr>
            </a:pPr>
            <a:r>
              <a:t>   –  Dataset pequeño para estándares de ML: ~200 días útiles tras construir el historial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262220"/>
                </a:solidFill>
              </a:defRPr>
            </a:pPr>
            <a:r>
              <a:t>•  Decisión de diseño: modelos clásicos e interpretables (Ridge, Random Forest, HistGradientBoosting) — apropiados para este volumen, no deep learning sobredimensionado.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250"/>
                </a:solidFill>
              </a:defRPr>
            </a:pPr>
            <a:r>
              <a:t>Restaurant Intelligence — TFM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250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187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CÓMO ESTÁ CONSTRUIDO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Arquitectura del producto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011680"/>
            <a:ext cx="269748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9187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62220"/>
                </a:solidFill>
              </a:defRPr>
            </a:pPr>
            <a:r>
              <a:t>Streamlit</a:t>
            </a:r>
          </a:p>
          <a:p>
            <a:pPr algn="ctr">
              <a:defRPr sz="1100">
                <a:solidFill>
                  <a:srgbClr val="6B6250"/>
                </a:solidFill>
              </a:defRPr>
            </a:pPr>
            <a:r>
              <a:t>Frontend — 3 páginas ya en uso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331720"/>
            <a:ext cx="18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918772"/>
                </a:solidFill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7560" y="2011680"/>
            <a:ext cx="2697480" cy="1371600"/>
          </a:xfrm>
          <a:prstGeom prst="rect">
            <a:avLst/>
          </a:prstGeom>
          <a:solidFill>
            <a:srgbClr val="EFE8DA"/>
          </a:solidFill>
          <a:ln w="15875">
            <a:solidFill>
              <a:srgbClr val="9187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62220"/>
                </a:solidFill>
              </a:defRPr>
            </a:pPr>
            <a:r>
              <a:t>FastAPI</a:t>
            </a:r>
          </a:p>
          <a:p>
            <a:pPr algn="ctr">
              <a:defRPr sz="1100">
                <a:solidFill>
                  <a:srgbClr val="6B6250"/>
                </a:solidFill>
              </a:defRPr>
            </a:pPr>
            <a:r>
              <a:t>Backend — expone los modelos por HTTP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331720"/>
            <a:ext cx="18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918772"/>
                </a:solidFill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2011680"/>
            <a:ext cx="269748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9187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62220"/>
                </a:solidFill>
              </a:defRPr>
            </a:pPr>
            <a:r>
              <a:t>ml/</a:t>
            </a:r>
          </a:p>
          <a:p>
            <a:pPr algn="ctr">
              <a:defRPr sz="1100">
                <a:solidFill>
                  <a:srgbClr val="6B6250"/>
                </a:solidFill>
              </a:defRPr>
            </a:pPr>
            <a:r>
              <a:t>Adapters sobre los .joblib — nunca reentrena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331720"/>
            <a:ext cx="18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918772"/>
                </a:solidFill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0" y="2011680"/>
            <a:ext cx="2697480" cy="1371600"/>
          </a:xfrm>
          <a:prstGeom prst="rect">
            <a:avLst/>
          </a:prstGeom>
          <a:solidFill>
            <a:srgbClr val="EFE8DA"/>
          </a:solidFill>
          <a:ln w="15875">
            <a:solidFill>
              <a:srgbClr val="9187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62220"/>
                </a:solidFill>
              </a:defRPr>
            </a:pPr>
            <a:r>
              <a:t>RAG + MCP</a:t>
            </a:r>
          </a:p>
          <a:p>
            <a:pPr algn="ctr">
              <a:defRPr sz="1100">
                <a:solidFill>
                  <a:srgbClr val="6B6250"/>
                </a:solidFill>
              </a:defRPr>
            </a:pPr>
            <a:r>
              <a:t>Conocimiento documental + datos estructurados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033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62220"/>
                </a:solidFill>
              </a:defRPr>
            </a:pPr>
            <a:r>
              <a:t>•  Los modelos .joblib entrenados en los notebooks son la fuente de verdad — ml/ solo los envuelve, nunca los sustituye ni los reentrena.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62220"/>
                </a:solidFill>
              </a:defRPr>
            </a:pPr>
            <a:r>
              <a:t>•  RAG (TF-IDF, ~1.400 fragmentos) resuelve preguntas de texto; MCP (12 tools) resuelve preguntas de cifras — nunca se mezclan.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62220"/>
                </a:solidFill>
              </a:defRPr>
            </a:pPr>
            <a:r>
              <a:t>•  Siguiente paso natural: un AI Agent conversacional que combine ambos (fuera del alcance actual, dejado preparado).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250"/>
                </a:solidFill>
              </a:defRPr>
            </a:pPr>
            <a:r>
              <a:t>Restaurant Intelligence — TFM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250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187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MODELOS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Resultados: facturación y ticket medio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35204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187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200" b="1">
                <a:solidFill>
                  <a:srgbClr val="6B6250"/>
                </a:solidFill>
              </a:defRPr>
            </a:pPr>
            <a:r>
              <a:t>FACTURACIÓN DIARIA · Random Forest</a:t>
            </a:r>
          </a:p>
          <a:p>
            <a:pPr algn="ctr">
              <a:defRPr sz="2600" b="1">
                <a:solidFill>
                  <a:srgbClr val="262220"/>
                </a:solidFill>
              </a:defRPr>
            </a:pPr>
            <a:r>
              <a:t>MAE 457 €</a:t>
            </a:r>
          </a:p>
          <a:p>
            <a:pPr algn="ctr">
              <a:defRPr sz="1100">
                <a:solidFill>
                  <a:srgbClr val="262220"/>
                </a:solidFill>
              </a:defRPr>
            </a:pPr>
            <a:r>
              <a:t>R² 0.77  ·  sMAPE 16.5%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1508760"/>
            <a:ext cx="35204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187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200" b="1">
                <a:solidFill>
                  <a:srgbClr val="6B6250"/>
                </a:solidFill>
              </a:defRPr>
            </a:pPr>
            <a:r>
              <a:t>TICKET MEDIO · Ridge</a:t>
            </a:r>
          </a:p>
          <a:p>
            <a:pPr algn="ctr">
              <a:defRPr sz="2600" b="1">
                <a:solidFill>
                  <a:srgbClr val="262220"/>
                </a:solidFill>
              </a:defRPr>
            </a:pPr>
            <a:r>
              <a:t>MAE 13.85 €</a:t>
            </a:r>
          </a:p>
          <a:p>
            <a:pPr algn="ctr">
              <a:defRPr sz="1100">
                <a:solidFill>
                  <a:srgbClr val="262220"/>
                </a:solidFill>
              </a:defRPr>
            </a:pPr>
            <a:r>
              <a:t>R² 0.54  ·  sMAPE 14.8%</a:t>
            </a:r>
          </a:p>
        </p:txBody>
      </p:sp>
      <p:sp>
        <p:nvSpPr>
          <p:cNvPr id="7" name="Rectangle 6"/>
          <p:cNvSpPr/>
          <p:nvPr/>
        </p:nvSpPr>
        <p:spPr>
          <a:xfrm>
            <a:off x="7909560" y="1508760"/>
            <a:ext cx="35204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187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200" b="1">
                <a:solidFill>
                  <a:srgbClr val="6B6250"/>
                </a:solidFill>
              </a:defRPr>
            </a:pPr>
            <a:r>
              <a:t>SOBRE BASELINES INGENUOS</a:t>
            </a:r>
          </a:p>
          <a:p>
            <a:pPr algn="ctr">
              <a:defRPr sz="2600" b="1">
                <a:solidFill>
                  <a:srgbClr val="262220"/>
                </a:solidFill>
              </a:defRPr>
            </a:pPr>
            <a:r>
              <a:t>Ambos superan</a:t>
            </a:r>
          </a:p>
          <a:p>
            <a:pPr algn="ctr">
              <a:defRPr sz="1100">
                <a:solidFill>
                  <a:srgbClr val="262220"/>
                </a:solidFill>
              </a:defRPr>
            </a:pPr>
            <a:r>
              <a:t>a los baselines de forma consistente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6616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262220"/>
                </a:solidFill>
              </a:defRPr>
            </a:pPr>
            <a:r>
              <a:t>•  El ticket medio es un cociente calculado sobre pocas decenas de tickets/día: tiene un techo de predictibilidad más bajo por construcción del problema, no por ser peor modelo.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262220"/>
                </a:solidFill>
              </a:defRPr>
            </a:pPr>
            <a:r>
              <a:t>•  Ambos modelos ya están integrados en el backend y consumidos por la app en modo backtest y forecast.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250"/>
                </a:solidFill>
              </a:defRPr>
            </a:pPr>
            <a:r>
              <a:t>Restaurant Intelligence — TFM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250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187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MODELOS DE LARGO PLAZO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Cuando no hay “la semana pasada”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62220"/>
                </a:solidFill>
              </a:defRPr>
            </a:pPr>
            <a:r>
              <a:t>•  Problema: para predecir, p.ej., dentro de 3 meses no existe un “hace 7 días” real que usar como feature.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62220"/>
                </a:solidFill>
              </a:defRPr>
            </a:pPr>
            <a:r>
              <a:t>•  Solución: un segundo modelo por cada predicción, entrenado SIN variables de memoria — solo calendario, festivos, eventos, meteorología y reservas ya confirmadas.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188720" y="2788920"/>
          <a:ext cx="65836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01000" y="2926080"/>
            <a:ext cx="3703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6250"/>
                </a:solidFill>
              </a:defRPr>
            </a:pPr>
            <a:r>
              <a:t>Solo ~7-8% peor</a:t>
            </a:r>
          </a:p>
          <a:p>
            <a:pPr>
              <a:spcBef>
                <a:spcPts val="1000"/>
              </a:spcBef>
              <a:defRPr sz="1400">
                <a:solidFill>
                  <a:srgbClr val="262220"/>
                </a:solidFill>
              </a:defRPr>
            </a:pPr>
            <a:r>
              <a:t>El calendario, la meteorología y los eventos pesan más de lo esperado frente a la memoria reciente. La app elige el modelo correcto automáticamente según haya o no historial real cercano a la fecha.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250"/>
                </a:solidFill>
              </a:defRPr>
            </a:pPr>
            <a:r>
              <a:t>Restaurant Intelligence — TFM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250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187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MODELOS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Ventas por plato: para decidir la compra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262220"/>
                </a:solidFill>
              </a:defRPr>
            </a:pPr>
            <a:r>
              <a:t>•  Modelo a nivel artículo × semana, para 82 de los 251 platos de la carta (los de venta suficientemente regular para modelar).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262220"/>
                </a:solidFill>
              </a:defRPr>
            </a:pPr>
            <a:r>
              <a:t>•  Aplicación directa en el producto: sección “Top 3 platos de la semana” en la app, con la cantidad prevista — pensada para orientar la compra en el mercado antes de que falte género.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262220"/>
                </a:solidFill>
              </a:defRPr>
            </a:pPr>
            <a:r>
              <a:t>•  Ejemplo de cómo una predicción técnica se traduce en una decisión operativa concreta del día a día del negocio, no solo un informe para leer.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250"/>
                </a:solidFill>
              </a:defRPr>
            </a:pPr>
            <a:r>
              <a:t>Restaurant Intelligence — TFM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250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187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MODELOS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Riesgo de no-show: cuando la señal es débil, se dice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508760"/>
          <a:ext cx="60350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49440" y="1600200"/>
            <a:ext cx="4663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262220"/>
                </a:solidFill>
              </a:defRPr>
            </a:pPr>
            <a:r>
              <a:t>•  Tasa base de no-show: 3.38% de las reservas.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262220"/>
                </a:solidFill>
              </a:defRPr>
            </a:pPr>
            <a:r>
              <a:t>•  El modelo desplegado (HistGradientBoosting ajustado) mejora a los baselines ingenuos, pero la señal sigue siendo débil.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262220"/>
                </a:solidFill>
              </a:defRPr>
            </a:pPr>
            <a:r>
              <a:t>•  Decisión de honestidad: se muestra igualmente en la app, con un aviso explícito de “indicio, no certeza” — nunca se maquilla un resultado débil para que parezca mejor de lo que 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250"/>
                </a:solidFill>
              </a:defRPr>
            </a:pPr>
            <a:r>
              <a:t>Restaurant Intelligence — TFM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250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187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CUSTOMER INTELLIGENCE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Reseñas: de opinión a decisión de negocio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262220"/>
                </a:solidFill>
              </a:defRPr>
            </a:pPr>
            <a:r>
              <a:t>•  965 reseñas reales (Google + TripAdvisor) procesadas sin librerías pesadas de NLP (sin spaCy/transformers, sin API de pago) — reproducible en cualquier portátil.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262220"/>
                </a:solidFill>
              </a:defRPr>
            </a:pPr>
            <a:r>
              <a:t>•  Extracción de entidades (platos, personal, local) anclada a la carta real + análisis de sentimiento por aspecto (ABSA).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262220"/>
                </a:solidFill>
              </a:defRPr>
            </a:pPr>
            <a:r>
              <a:t>•  Alerta automática de caída de calidad: chequeo estadístico sobre el sentimiento medio mensual, señal temprana antes de que se note en la facturación.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262220"/>
                </a:solidFill>
              </a:defRPr>
            </a:pPr>
            <a:r>
              <a:t>•  Módulo GEO (AI Visibility): cómo aparece el restaurante cuando se le pregunta a un LLM por recomendaciones — framework ya construido, resultados reales pendientes de una fase posterior.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250"/>
                </a:solidFill>
              </a:defRPr>
            </a:pPr>
            <a:r>
              <a:t>Restaurant Intelligence — TFM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250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187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DEMO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El producto: la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62220"/>
                </a:solidFill>
              </a:defRPr>
            </a:pPr>
            <a:r>
              <a:t>•  Overview — estado del restaurante en 10-30 segundos: KPIs, facturación real vs. prevista.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62220"/>
                </a:solidFill>
              </a:defRPr>
            </a:pPr>
            <a:r>
              <a:t>•  Forecast — previsión de facturación, ticket medio, ventas por plato (+ top 3 de la semana), riesgo de no-show y alerta de calidad de reseñas.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62220"/>
                </a:solidFill>
              </a:defRPr>
            </a:pPr>
            <a:r>
              <a:t>•  Reservas — alta y edición manual; cancelar nunca borra el registro, solo lo marca como cancelado (histórico acumulativo real).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62220"/>
                </a:solidFill>
              </a:defRPr>
            </a:pPr>
            <a:r>
              <a:t>•  Estilo visual del propio restaurante: logo y colores reales de larocamadrid.es, para que se sienta como su producto, no una demo genérica.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250"/>
                </a:solidFill>
              </a:defRPr>
            </a:pPr>
            <a:r>
              <a:t>Restaurant Intelligence — TFM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250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187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CÓMO SE TOMARON LAS DECISIONES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Principios de diseño responsable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262220"/>
                </a:solidFill>
              </a:defRPr>
            </a:pPr>
            <a:r>
              <a:t>•  Nunca inventar datos: si no hay dato real, se marca explícitamente como “DEMO DATA”.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262220"/>
                </a:solidFill>
              </a:defRPr>
            </a:pPr>
            <a:r>
              <a:t>•  RAG (texto) y MCP (cifras) nunca se mezclan: un LLM nunca “calcula” una predicción que ya calcula el modelo entrenado.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262220"/>
                </a:solidFill>
              </a:defRPr>
            </a:pPr>
            <a:r>
              <a:t>•  Las simulaciones what-if se llaman “model-based scenario”, nunca causalidad.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262220"/>
                </a:solidFill>
              </a:defRPr>
            </a:pPr>
            <a:r>
              <a:t>•  Ningún modelo se reentrena sin pedirlo explícitamente — los .joblib son la fuente de verdad.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262220"/>
                </a:solidFill>
              </a:defRPr>
            </a:pPr>
            <a:r>
              <a:t>•  El dato introducido a mano (reservas) es histórico acumulativo: nunca se borra físicamente, solo se marca como cancelado.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250"/>
                </a:solidFill>
              </a:defRPr>
            </a:pPr>
            <a:r>
              <a:t>Restaurant Intelligence — TFM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250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187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SIN MAQUILLAJE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Limitaciones y trabajo futuro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62220"/>
                </a:solidFill>
              </a:defRPr>
            </a:pPr>
            <a:r>
              <a:t>•  Un único ciclo anual: no se puede confirmar estacionalidad real todavía.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62220"/>
                </a:solidFill>
              </a:defRPr>
            </a:pPr>
            <a:r>
              <a:t>•  No-shows: señal débil, mejorable con más histórico y con variables (canal, zona, antelación) que el formulario de la app aún no captura.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62220"/>
                </a:solidFill>
              </a:defRPr>
            </a:pPr>
            <a:r>
              <a:t>•  AI Visibility y comparativa de competidores: framework listo, resultados reales pendientes de ejecutar la batería de prompts.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62220"/>
                </a:solidFill>
              </a:defRPr>
            </a:pPr>
            <a:r>
              <a:t>•  Próximo paso natural: el AI Agent conversacional (Fase 4) que una RAG + MCP en un chat de gerente, siguiendo el patrón Previsión → Explicación → Riesgos → Recomendación.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250"/>
                </a:solidFill>
              </a:defRPr>
            </a:pPr>
            <a:r>
              <a:t>Restaurant Intelligence — TFM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250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187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CONCLUSIÓN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Por qué esto importa para locales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262220"/>
                </a:solidFill>
              </a:defRPr>
            </a:pPr>
            <a:r>
              <a:t>•  No hace falta big data ni infraestructura cara para tener una capa de inteligencia útil en un restaurante independiente.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262220"/>
                </a:solidFill>
              </a:defRPr>
            </a:pPr>
            <a:r>
              <a:t>•  El mismo patrón (adapters sobre modelos clásicos + RAG ligero sin coste + MCP) es replicable en cualquier local con un año de datos digitalizados.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262220"/>
                </a:solidFill>
              </a:defRPr>
            </a:pPr>
            <a:r>
              <a:t>•  El valor no es “predecir perfecto”: es predecir mejor que a ojo, y ser honesto sobre lo que todavía no se sabe.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250"/>
                </a:solidFill>
              </a:defRPr>
            </a:pPr>
            <a:r>
              <a:t>Restaurant Intelligence — TFM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250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104" y="1828800"/>
            <a:ext cx="3657600" cy="10050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749039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262220"/>
                </a:solidFill>
              </a:defRPr>
            </a:pPr>
            <a:r>
              <a:t>Gracias — preguntas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1493</Words>
  <Application>Microsoft Office PowerPoint</Application>
  <PresentationFormat>Panorámica</PresentationFormat>
  <Paragraphs>114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Candela Gallego Baeza</cp:lastModifiedBy>
  <cp:revision>1</cp:revision>
  <dcterms:created xsi:type="dcterms:W3CDTF">2013-01-27T09:14:16Z</dcterms:created>
  <dcterms:modified xsi:type="dcterms:W3CDTF">2026-09-14T23:25:23Z</dcterms:modified>
  <cp:category/>
</cp:coreProperties>
</file>